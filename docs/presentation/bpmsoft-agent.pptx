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eeca803d-5cbd-7a5b-0fcc-e6edc0583209}">
          <p14:sldIdLst>
            <p14:sldId id="256"/>
            <p14:sldId id="257"/>
          </p14:sldIdLst>
        </p14:section>
        <p14:section name="Как пользоваться" id="{3fdb99d2-9f35-2323-cd4b-f9250d143f89}">
          <p14:sldIdLst>
            <p14:sldId id="258"/>
            <p14:sldId id="259"/>
            <p14:sldId id="260"/>
          </p14:sldIdLst>
        </p14:section>
        <p14:section name="Возможности" id="{a2700c91-9a03-345f-70c4-1be53bbda18d}">
          <p14:sldIdLst>
            <p14:sldId id="261"/>
          </p14:sldIdLst>
        </p14:section>
        <p14:section name="Принципы" id="{d979cb53-2e9c-9ad6-cf4c-78d85d56967f}">
          <p14:sldIdLst>
            <p14:sldId id="262"/>
            <p14:sldId id="263"/>
          </p14:sldIdLst>
        </p14:section>
        <p14:section name="Безопасность" id="{f0bf4b81-ace4-a3a1-23af-99b1c2c92c1d}">
          <p14:sldIdLst>
            <p14:sldId id="264"/>
            <p14:sldId id="265"/>
          </p14:sldIdLst>
        </p14:section>
        <p14:section name="Стенд CRM и БД" id="{5793bb11-f184-3f18-66af-152d3ad2fc30}">
          <p14:sldIdLst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Claude Code" id="{b43c6aaa-1a85-503e-232b-4847fb96f79a}">
          <p14:sldIdLst>
            <p14:sldId id="272"/>
          </p14:sldIdLst>
        </p14:section>
        <p14:section name="Логи и знания" id="{e25dae2e-22a6-45b0-5b19-417c96af6ea0}">
          <p14:sldIdLst>
            <p14:sldId id="273"/>
            <p14:sldId id="274"/>
          </p14:sldIdLst>
        </p14:section>
        <p14:section name="Итог" id="{60deec63-326b-f0bd-fe95-89080898f9d7}">
          <p14:sldIdLst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Источники (проверено 22.10.2026): privacy.claude.com — «Is my data used for model training?» и «How long do you store my organization's data?»; cursor.com/data-use — Privacy Mode и маршрутизация запросов через сервер Cursor.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BPMSoft AI Agent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CENT">
    <p:bg>
      <p:bgPr>
        <a:solidFill>
          <a:srgbClr val="4F46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uznecowmiha/Documents/repositories/bpmsoft-agent/docs/presentation/screen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26060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BPMSoft AI Agent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356616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ИИ-разработчик для проектов на BPMSoft: от задачи до проверенной реализации на стенде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4709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пользоваться, что умеет и как устроен · октябрь 2026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852160" y="1463040"/>
            <a:ext cx="5760720" cy="3602736"/>
          </a:xfrm>
          <a:prstGeom prst="roundRect">
            <a:avLst>
              <a:gd name="adj" fmla="val 1523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1" descr="/Users/kuznecowmiha/Documents/repositories/bpmsoft-agent/docs/presentation/screens/emp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8736" y="1499616"/>
            <a:ext cx="5687568" cy="35295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такое BPMSoft AI Agent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0350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Desktop-приложение для macOS и Windows: чат, история чатов, логи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в папке приложения BPMSoft и пишет файлы пакетов в BPMSoft.Configuration/Pkg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вы включили: сам обновляет и компилирует стенд, читает БД и смотрит интерфейс CRM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на выбор: Claude или Cursor — в «Настройках»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Опирается на базу знаний о metadata BPMSoft, а не на догадки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040880" y="1325880"/>
            <a:ext cx="4572000" cy="1371600"/>
          </a:xfrm>
          <a:prstGeom prst="roundRect">
            <a:avLst>
              <a:gd name="adj" fmla="val 5333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269480" y="132588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8869680" y="132588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файлов базы знаний о metadata BPMSoft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040880" y="2880360"/>
            <a:ext cx="45720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269480" y="288036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8869680" y="288036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скиллов для Claude Code — экспорт в стенд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040880" y="4434840"/>
            <a:ext cx="45720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269480" y="443484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8869680" y="44348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кейсов эвалов — автотестов поведения агента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чего начать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35331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Откройте проект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71907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Папка приложения BPMSoft — где лежат BPMSoft.Configuration и conf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22199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Подключите модель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58775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«Настройки»: провайдер Claude или Cursor, ключ API, модель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09067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Включите доступы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4564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желанию: БД CRM, действия в CRM, встроенный браузер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95935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Опишите задачу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32511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Обычным языком: что, где, для кого. Назовите пакет — или агент спросит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84632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82803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Подтвердите план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519379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не пишет файлы до вашего «Делай»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806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Остановить ответ — «Стоп» или Esc; прошлые чаты — в списке слева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498080" y="1325880"/>
            <a:ext cx="3593592" cy="4206240"/>
          </a:xfrm>
          <a:prstGeom prst="roundRect">
            <a:avLst>
              <a:gd name="adj" fmla="val 1527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25" name="Image 0" descr="/Users/kuznecowmiha/Documents/repositories/bpmsoft-agent/docs/presentation/screens/settings_provi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4656" y="1362456"/>
            <a:ext cx="3520440" cy="4133088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7498080" y="5623560"/>
            <a:ext cx="3593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Настройки: провайдер, ключ и модель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агент ведёт задачу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338943" y="1874520"/>
            <a:ext cx="9483634" cy="0"/>
          </a:xfrm>
          <a:prstGeom prst="line">
            <a:avLst/>
          </a:prstGeom>
          <a:noFill/>
          <a:ln w="25400">
            <a:solidFill>
              <a:srgbClr val="C7D2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3183" y="1508760"/>
            <a:ext cx="731520" cy="7315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73183" y="1508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576072" y="2423160"/>
            <a:ext cx="15257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Пакет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926080"/>
            <a:ext cx="139772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Спрашивает, в какой пакет писать, и не угадывает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53789" y="1508760"/>
            <a:ext cx="731520" cy="7315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53789" y="1508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2156678" y="2423160"/>
            <a:ext cx="15257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Требования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220686" y="2926080"/>
            <a:ext cx="139772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вопросы одним сообщением, варианты — кнопками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134394" y="1508760"/>
            <a:ext cx="731520" cy="7315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34394" y="1508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3737283" y="2423160"/>
            <a:ext cx="15257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Исследование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801291" y="2926080"/>
            <a:ext cx="139772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Знания, аналоги в пакетах, иерархия схем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715000" y="1508760"/>
            <a:ext cx="731520" cy="7315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715000" y="1508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5317889" y="2423160"/>
            <a:ext cx="15257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и стоп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381897" y="2926080"/>
            <a:ext cx="139772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Критерии приёмки, файлы, риски — ждёт «Делай»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295606" y="1508760"/>
            <a:ext cx="731520" cy="7315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295606" y="1508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100" dirty="0"/>
          </a:p>
        </p:txBody>
      </p:sp>
      <p:sp>
        <p:nvSpPr>
          <p:cNvPr id="22" name="Text 20"/>
          <p:cNvSpPr txBox="1"/>
          <p:nvPr/>
        </p:nvSpPr>
        <p:spPr>
          <a:xfrm>
            <a:off x="6898495" y="2423160"/>
            <a:ext cx="15257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Реализация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962503" y="2926080"/>
            <a:ext cx="139772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Пишет в Pkg, перечитывает, запускает pkg_lint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876211" y="1508760"/>
            <a:ext cx="731520" cy="7315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876211" y="1508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100" dirty="0"/>
          </a:p>
        </p:txBody>
      </p:sp>
      <p:sp>
        <p:nvSpPr>
          <p:cNvPr id="26" name="Text 24"/>
          <p:cNvSpPr txBox="1"/>
          <p:nvPr/>
        </p:nvSpPr>
        <p:spPr>
          <a:xfrm>
            <a:off x="8479101" y="2423160"/>
            <a:ext cx="15257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543109" y="2926080"/>
            <a:ext cx="139772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Обновляет стенд и проверяет критерии приёмки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0456817" y="1508760"/>
            <a:ext cx="731520" cy="7315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456817" y="1508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100" dirty="0"/>
          </a:p>
        </p:txBody>
      </p:sp>
      <p:sp>
        <p:nvSpPr>
          <p:cNvPr id="30" name="Text 28"/>
          <p:cNvSpPr txBox="1"/>
          <p:nvPr/>
        </p:nvSpPr>
        <p:spPr>
          <a:xfrm>
            <a:off x="10059706" y="2423160"/>
            <a:ext cx="15257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Наблюдения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0123714" y="2926080"/>
            <a:ext cx="139772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Новое для базы знаний — в конце ответа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48640" y="48920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2960" y="48920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об устройстве проекта без правок — агент отвечает сразу: без пакета, плана и подтверждения. Исправление ошибки в только что сделанном по плану — тоже без нового плана.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План, который можно проверить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40680" cy="4453128"/>
          </a:xfrm>
          <a:prstGeom prst="roundRect">
            <a:avLst>
              <a:gd name="adj" fmla="val 1232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/Users/kuznecowmiha/Documents/repositories/bpmsoft-agent/docs/presentation/screens/pl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316736"/>
            <a:ext cx="5367528" cy="437997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72200" y="1280160"/>
            <a:ext cx="5440680" cy="4453128"/>
          </a:xfrm>
          <a:prstGeom prst="roundRect">
            <a:avLst>
              <a:gd name="adj" fmla="val 1232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1" descr="/Users/kuznecowmiha/Documents/repositories/bpmsoft-agent/docs/presentation/screens/choic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8776" y="1316736"/>
            <a:ext cx="5367528" cy="437997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5852160"/>
            <a:ext cx="5440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</a:t>
            </a:r>
            <a:pPr indent="0" marL="0">
              <a:buNone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что вы увидите, </a:t>
            </a:r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pPr indent="0" marL="0">
              <a:buNone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краевые случаи, </a:t>
            </a:r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</a:t>
            </a:r>
            <a:pPr indent="0" marL="0">
              <a:buNone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готовность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6172200" y="5852160"/>
            <a:ext cx="5440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Файлы — только после «Делай»; ответы на вопросы — не подтверждение плана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умеет агент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5448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554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Объекты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945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Колонки любых типов, индексы, замещения, события, удаление с проверкой ссылок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132588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6280" y="155448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1554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Клиентские схемы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1945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Карточки, разделы, детали, мини-карточки, модули: поля, кнопки, валидация, запросы ESQ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132588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5320" y="155448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753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869680" y="1554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Бизнес-процессы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21945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Элементы, шлюзы, сигналы, таймеры, подпроцессы, свои действия процесса на C#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65760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388620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3886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и сервисы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5262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Слушатели событий, REST-сервисы, вызов внешних API, уведомления пользователю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297680" y="365760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26280" y="388620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2628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120640" y="3886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и права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526280" y="45262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Системные настройки, справочники, SQL-скрипты, права на операции, колонки и записи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046720" y="365760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75320" y="388620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753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8869680" y="3886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Регистрация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275320" y="45262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Разделы, карточки, детали, справочники, группы, рабочие места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9253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ещё: объясняет, как сейчас устроен проект, и разбирает ошибки стенда по журналам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Принципы разработки агента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02920" cy="5029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2801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Петля исправлений с контрольной точкой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64208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Ошибки своих схем исправляет сам; после 5 неудач или 3 одинаковых ошибок подряд — спрашивает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502920" cy="5029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4688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Сначала дешёвые проверки кодом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852928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pkg_lint перед каждым обновлением стенда: при ошибке на стенд ничего не уходит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502920" cy="5029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6576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Эвалы — тесты для агента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041648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Типовые задачи прогоняются автоматически на тестовом стенде после изменений агента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892040"/>
            <a:ext cx="502920" cy="5029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892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48463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Каждая ошибка становится правилом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5230368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Закрываем на самом дешёвом уровне: код → знания → промпт → кейс эвалов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63640" y="1325880"/>
            <a:ext cx="502920" cy="5029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6364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12801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Знания общие, наблюдения — со всех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1664208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предлагает, разработчик переносит в знания только подтверждённое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63640" y="2514600"/>
            <a:ext cx="502920" cy="5029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6364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949440" y="24688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Человек в петле по степени риска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2852928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Чтение — сразу, запись — по плану, удаление и массовые правки — после вопроса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263640" y="3703320"/>
            <a:ext cx="502920" cy="5029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6364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949440" y="36576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Песочница и наблюдаемость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949440" y="4041648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Читает только проект, пишет только в Pkg; каждый чат пишется в лог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263640" y="4846320"/>
            <a:ext cx="5349240" cy="1143000"/>
          </a:xfrm>
          <a:prstGeom prst="roundRect">
            <a:avLst>
              <a:gd name="adj" fmla="val 64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92240" y="484632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Главное правило: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изобретать metadata. ✅-факты из знаний — напрямую, остальное — подтверждать файлами проекта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Границы: что агент делает сам, а что — нет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440680" cy="4343400"/>
          </a:xfrm>
          <a:prstGeom prst="roundRect">
            <a:avLst>
              <a:gd name="adj" fmla="val 1684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554480"/>
            <a:ext cx="502920" cy="5029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5544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Сам, без вопроса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86000"/>
            <a:ext cx="4892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Читает папку проекта и базу знаний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Пишет в выбранный пакет Pkg — по подтверждённому плану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Читает журналы стенда, git status и diff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Выполняет SELECT к БД CRM — если доступ включён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Перечитывает свои файлы и запускает pkg_lint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72200" y="1325880"/>
            <a:ext cx="5440680" cy="4343400"/>
          </a:xfrm>
          <a:prstGeom prst="roundRect">
            <a:avLst>
              <a:gd name="adj" fmla="val 1684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46520" y="1554480"/>
            <a:ext cx="502920" cy="5029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132320" y="15544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Нельзя или только с вашего согласия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286000"/>
            <a:ext cx="4892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Читать ConnectionStrings.config, ключи и сертификаты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Менять Autogenerated, Resources и conf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Удалять схемы и данные, массово менять записи — после вопроса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Коммиты, ветки, push — решаете вы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Писать пароли и токены в файлы и повторять их в ответах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8521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Внешние команды — в песочнице ОС или с вашего подтверждения; выход за границы проекта отклоняется автоматически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Агент в файловой системе: что его ограничивает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4206240" cy="1143000"/>
          </a:xfrm>
          <a:prstGeom prst="roundRect">
            <a:avLst>
              <a:gd name="adj" fmla="val 64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356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Пишет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75564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Pkg выбранного проекта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4206240" cy="1143000"/>
          </a:xfrm>
          <a:prstGeom prst="roundRect">
            <a:avLst>
              <a:gd name="adj" fmla="val 640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7157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Читает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3580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Папка приложения BPMSoft и база знаний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4206240" cy="1143000"/>
          </a:xfrm>
          <a:prstGeom prst="roundRect">
            <a:avLst>
              <a:gd name="adj" fmla="val 6400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9959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Закрыто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31596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Домашняя папка, ~/.ssh, ~/.aws, Keychain, ConnectionStrings.config, ключи и сертификаты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2120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Пароли БД и CRM агенту не передаются: инструменты подключаются сами, секреты хранятся в защищённом хранилище ОС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0" y="1325880"/>
            <a:ext cx="658368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12080" y="150876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1208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760720" y="148132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каждого действия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760720" y="1947672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выполнения: чтение вне проекта и запись вне Pkg отклоняются, файлы с секретами не открываются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0" y="2532888"/>
            <a:ext cx="658368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12080" y="2715768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12080" y="27157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760720" y="268833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Песочница ОС для команд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760720" y="3154680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macOS: запись только в Pkg, без сети, домашняя папка закрыта. Windows: без вопроса — только чтение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29200" y="3739896"/>
            <a:ext cx="658368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12080" y="3922776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212080" y="39227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760720" y="389534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Подтверждение человека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760720" y="4361688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Удаление, git, сеть и программы вроде curl, npm, python, psql — только с вашего разрешения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029200" y="4946904"/>
            <a:ext cx="658368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12080" y="5129784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212080" y="51297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760720" y="510235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БД — только чтение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5760720" y="5568696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в транзакции только для чтения; изменения, системные функции и колонки с паролями закрыты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Код проекта и модель в интернете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уходит в модель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92808"/>
            <a:ext cx="498348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Системный промпт и нужные файлы базы знаний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Фрагменты файлов, которые агент прочитал: схемы Pkg, код платформы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 запросов к БД — до 200 строк, без колонок с паролями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 и снимки страниц CRM — если включён браузер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61188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37490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не уходит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178808"/>
            <a:ext cx="49834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Пароли БД и CRM, ключи API — инструменты подключаются сами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Файлы с секретами и всё, что вне папки проекта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Служебная телеметрия Claude Code — отключена: наружу уходят только запросы к модели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1325880"/>
            <a:ext cx="54406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4630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— API и корпоративные тарифы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1892808"/>
            <a:ext cx="4983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умолчанию данные не используются для обучения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Удаляются в течение 30 дней; возможен договор нулевого хранения (ZDR)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72200" y="3291840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342900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 — с Privacy Mode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3858768"/>
            <a:ext cx="498348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не обучается на данных, у провайдеров моделей — договоры нулевого хранения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Запросы всегда идут через сервер Cursor, даже со своим ключом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548640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54864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Предлагаем: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корпоративный договор с Claude (при необходимости ZDR) или Privacy Mode в Cursor; тестовые стенды без боевых персональных данных; отдельный пользователь БД только на чтение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Индикаторы в шапке приложения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</p:spPr>
      </p:sp>
      <p:pic>
        <p:nvPicPr>
          <p:cNvPr id="4" name="Image 0" descr="/Users/kuznecowmiha/Documents/repositories/bpmsoft-agent/docs/presentation/screens/header_le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4572000" cy="457200"/>
          </a:xfrm>
          <a:prstGeom prst="rect">
            <a:avLst/>
          </a:prstGeom>
        </p:spPr>
      </p:pic>
      <p:pic>
        <p:nvPicPr>
          <p:cNvPr id="5" name="Image 1" descr="/Users/kuznecowmiha/Documents/repositories/bpmsoft-agent/docs/presentation/screens/header_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7344" y="1463040"/>
            <a:ext cx="3008376" cy="457200"/>
          </a:xfrm>
          <a:prstGeom prst="rect">
            <a:avLst/>
          </a:prstGeom>
        </p:spPr>
      </p:pic>
      <p:pic>
        <p:nvPicPr>
          <p:cNvPr id="6" name="Image 2" descr="/Users/kuznecowmiha/Documents/repositories/bpmsoft-agent/docs/presentation/screens/badge_o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0"/>
            <a:ext cx="1773936" cy="384048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2651760" y="256032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выключен в настройках — или для CRM не заданы адрес, пользователь и пароль</a:t>
            </a:r>
            <a:endParaRPr lang="en-US" sz="1500" dirty="0"/>
          </a:p>
        </p:txBody>
      </p:sp>
      <p:pic>
        <p:nvPicPr>
          <p:cNvPr id="8" name="Image 3" descr="/Users/kuznecowmiha/Documents/repositories/bpmsoft-agent/docs/presentation/screens/badge_check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291840"/>
            <a:ext cx="1773936" cy="384048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2651760" y="329184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Идёт проверка подключения: при включении и при каждой смене настроек</a:t>
            </a:r>
            <a:endParaRPr lang="en-US" sz="1500" dirty="0"/>
          </a:p>
        </p:txBody>
      </p:sp>
      <p:pic>
        <p:nvPicPr>
          <p:cNvPr id="10" name="Image 4" descr="/Users/kuznecowmiha/Documents/repositories/bpmsoft-agent/docs/presentation/screens/badge_o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023360"/>
            <a:ext cx="1773936" cy="384048"/>
          </a:xfrm>
          <a:prstGeom prst="rect">
            <a:avLst/>
          </a:prstGeom>
        </p:spPr>
      </p:pic>
      <p:sp>
        <p:nvSpPr>
          <p:cNvPr id="11" name="Text 4"/>
          <p:cNvSpPr txBox="1"/>
          <p:nvPr/>
        </p:nvSpPr>
        <p:spPr>
          <a:xfrm>
            <a:off x="2651760" y="402336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Подключение есть. Наведите — подробности, клик — проверить снова</a:t>
            </a:r>
            <a:endParaRPr lang="en-US" sz="1500" dirty="0"/>
          </a:p>
        </p:txBody>
      </p:sp>
      <p:pic>
        <p:nvPicPr>
          <p:cNvPr id="12" name="Image 5" descr="/Users/kuznecowmiha/Documents/repositories/bpmsoft-agent/docs/presentation/screens/badge_erro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754880"/>
            <a:ext cx="1773936" cy="384048"/>
          </a:xfrm>
          <a:prstGeom prst="rect">
            <a:avLst/>
          </a:prstGeom>
        </p:spPr>
      </p:pic>
      <p:sp>
        <p:nvSpPr>
          <p:cNvPr id="13" name="Text 5"/>
          <p:cNvSpPr txBox="1"/>
          <p:nvPr/>
        </p:nvSpPr>
        <p:spPr>
          <a:xfrm>
            <a:off x="2651760" y="475488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подключения. Наведите — причина, клик — проверить снова</a:t>
            </a:r>
            <a:endParaRPr lang="en-US" sz="1500" dirty="0"/>
          </a:p>
        </p:txBody>
      </p:sp>
      <p:sp>
        <p:nvSpPr>
          <p:cNvPr id="14" name="Shape 6"/>
          <p:cNvSpPr/>
          <p:nvPr/>
        </p:nvSpPr>
        <p:spPr>
          <a:xfrm>
            <a:off x="548640" y="548640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5" name="Text 7"/>
          <p:cNvSpPr txBox="1"/>
          <p:nvPr/>
        </p:nvSpPr>
        <p:spPr>
          <a:xfrm>
            <a:off x="777240" y="54864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Бейдж провайдера показывает модель. Точка у «Настроек» серая — не задан ключ API. Глобус — браузер CRM, «Логи» — лог текущей сессии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 со стендом CRM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120640" cy="4192524"/>
          </a:xfrm>
          <a:prstGeom prst="roundRect">
            <a:avLst>
              <a:gd name="adj" fmla="val 1309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/Users/kuznecowmiha/Documents/repositories/bpmsoft-agent/docs/presentation/screens/ac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362456"/>
            <a:ext cx="5047488" cy="41193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35040" y="1325880"/>
            <a:ext cx="55778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217920" y="150876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21792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766560" y="148132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Действия в CRM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766560" y="1947672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Обновляет из файловой системы (сначала pkg_lint), компилирует и перезапускает — после вашего ответа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035040" y="2743200"/>
            <a:ext cx="55778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17920" y="292608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17920" y="2926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766560" y="289864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Браузер CRM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766560" y="3364992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Открывает страницы CRM в панели справа: текст, консоль, сеть, снимок — и проверяет критерии приёмки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035040" y="4160520"/>
            <a:ext cx="55778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17920" y="43434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217920" y="4343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766560" y="431596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REST-запросы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766560" y="4782312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Свои сервисы, данные с правами пользователя, запуск процесса. Изменения — только с согласия, на тестовых записях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48640" y="566928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7240" y="56692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«Спрашивать перед каждым действием» — агент показывает действие и ждёт разрешения. Клики в браузере подтверждаются всегда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Встроенный браузер CRM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7223760" cy="4535424"/>
          </a:xfrm>
          <a:prstGeom prst="roundRect">
            <a:avLst>
              <a:gd name="adj" fmla="val 1210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/Users/kuznecowmiha/Documents/repositories/bpmsoft-agent/docs/presentation/screens/brow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362456"/>
            <a:ext cx="7150608" cy="44622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092440" y="1371600"/>
            <a:ext cx="35204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открывается в панели справа под учётной записью из настроек — вы видите ту же страницу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читает текст страницы, консоль и сеть; снимок — когда важна вёрстка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ответе цитирует увиденное и отмечает, какие AC подтверждены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смотрит: не сохраняет и не удаляет записи; клики — с разрешения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Петля исправлений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Запись в Pkg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487168" y="1874520"/>
            <a:ext cx="329184" cy="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834640" y="146304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834640" y="14630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pkg_lint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73168" y="1874520"/>
            <a:ext cx="329184" cy="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120640" y="146304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20640" y="14630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Обновление из ФС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059168" y="1874520"/>
            <a:ext cx="329184" cy="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406640" y="146304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06640" y="14630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Компиляция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345168" y="1874520"/>
            <a:ext cx="329184" cy="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692640" y="146304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92640" y="14630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269748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2926080"/>
            <a:ext cx="548640" cy="5486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554480" y="27889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Ошибка в своей схеме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297680" y="278892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исправляет сам и повторяет обновление и компиляцию — без нового плана. Инструмент сообщает номер попытки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384048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4069080"/>
            <a:ext cx="548640" cy="5486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554480" y="39319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Контрольная точка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297680" y="393192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неудачных попыток или 3 одинаковые ошибки подряд: агент пишет, что пробовал, и спрашивает — «Продолжай исправлять» или «Остановись, разберусь сам»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498348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7240" y="5212080"/>
            <a:ext cx="548640" cy="5486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7240" y="5212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1554480" y="50749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Ошибка вне плана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4297680" y="507492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Схема, которую в этом чате не меняли, или нужна правка вне плана — агент не правит молча, а спрашивает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 к БД CRM — только чтение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устроено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35661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SELECT или WITH к PostgreSQL, транзакция только для чтения, до 200 строк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Изменяющие запросы отклоняет проверка безопасности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Учётные данные — из настроек, пароль в защищённом хранилище ОС; ConnectionStrings.config агент не читает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«Спрашивать перед каждым запросом» — покажет SQL и подождёт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343400" y="13258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Зачем агенту БД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343400" y="1874520"/>
            <a:ext cx="3429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рабочих мест и записей базовых справочников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Текущие значения системных настроек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после обновления: появились ли записи, выполнился ли SQL-скрипт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43400" y="4937760"/>
            <a:ext cx="3429000" cy="1097280"/>
          </a:xfrm>
          <a:prstGeom prst="roundRect">
            <a:avLst>
              <a:gd name="adj" fmla="val 6667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26280" y="493776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меняются только через файлы Pkg: данные пакета и SQL-скрипты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19872" y="1325880"/>
            <a:ext cx="3502152" cy="4434840"/>
          </a:xfrm>
          <a:prstGeom prst="roundRect">
            <a:avLst>
              <a:gd name="adj" fmla="val 1567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10" name="Image 0" descr="/Users/kuznecowmiha/Documents/repositories/bpmsoft-agent/docs/presentation/screens/settings_dbs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6448" y="1362456"/>
            <a:ext cx="3429000" cy="436168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доступ выключен — агент не застревает</a:t>
            </a:r>
            <a:endParaRPr lang="en-US" sz="3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840480"/>
                <a:gridCol w="50292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818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Возможность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818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Включена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818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Выключена или недоступна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818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БД CRM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3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Сам выполняет SELECT и проверяет результат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3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Читает данные REST-запросом (DataService), если включены действия в CRM; иначе даёт вам готовый SQL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818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Действия в CRM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3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Сам обновляет из файловой системы и компилирует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3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Просит вас нажать «Обновить из файловой системы» и скомпилировать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818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Браузер CRM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3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Сам открывает страницу и проверяет критерии приёмки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3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Даёт шаги проверки по каждому AC — проверяете вы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818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REST-запросы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3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Проверяет сервисы, процессы и права глазами пользователя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3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Просит выполнить запрос или проверить в интерфейсе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534924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5349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«CRM недоступна» или «вход не выполнен» — агент не повторяет вызов впустую: переходит на запасной путь и говорит, что сделать вам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Экспорт скиллов в Claude Code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316736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Настройки → «Claude Code» → «Установить скиллы в проект»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84832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029968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стенд ставится .claude: CLAUDE.md, 12 скиллов bpm-*, база знаний, pkg-lint.js и crm.js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798064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798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743200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Свой CLAUDE.md уже есть — подключить отдельным файлом или заменить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511296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456432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Файлы, изменённые вручную, — предупредит перед перезаписью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224528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4169664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обновления приложения — кнопка «Обновить скиллы»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589520" y="1325880"/>
            <a:ext cx="4023360" cy="3268980"/>
          </a:xfrm>
          <a:prstGeom prst="roundRect">
            <a:avLst>
              <a:gd name="adj" fmla="val 1678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0" descr="/Users/kuznecowmiha/Documents/repositories/bpmsoft-agent/docs/presentation/screens/settings_clau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6096" y="1362456"/>
            <a:ext cx="3950208" cy="3195828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548640" y="4983480"/>
            <a:ext cx="1783080" cy="347472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" y="49834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bpm-develop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2395728" y="4983480"/>
            <a:ext cx="1783080" cy="347472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395728" y="49834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bpm-explain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242816" y="4983480"/>
            <a:ext cx="1783080" cy="347472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242816" y="49834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bpm-entity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089904" y="4983480"/>
            <a:ext cx="1783080" cy="347472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089904" y="49834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bpm-client-schemas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936992" y="4983480"/>
            <a:ext cx="1783080" cy="347472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936992" y="49834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bpm-process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9784080" y="4983480"/>
            <a:ext cx="1783080" cy="347472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784080" y="49834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bpm-user-task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548640" y="5413248"/>
            <a:ext cx="1783080" cy="347472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48640" y="541324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bpm-source-code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2395728" y="5413248"/>
            <a:ext cx="1783080" cy="347472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2395728" y="541324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bpm-web-service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4242816" y="5413248"/>
            <a:ext cx="1783080" cy="347472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242816" y="541324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bpm-data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6089904" y="5413248"/>
            <a:ext cx="1783080" cy="347472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089904" y="541324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bpm-sql-script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7936992" y="5413248"/>
            <a:ext cx="1783080" cy="347472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936992" y="541324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bpm-registration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9784080" y="5413248"/>
            <a:ext cx="1783080" cy="347472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9784080" y="541324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bpm-troubleshoot</a:t>
            </a:r>
            <a:endParaRPr lang="en-US" sz="1200" dirty="0"/>
          </a:p>
        </p:txBody>
      </p:sp>
      <p:sp>
        <p:nvSpPr>
          <p:cNvPr id="44" name="Text 41"/>
          <p:cNvSpPr txBox="1"/>
          <p:nvPr/>
        </p:nvSpPr>
        <p:spPr>
          <a:xfrm>
            <a:off x="548640" y="58704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 же правила и знания — в Claude Code. Запросов к БД там нет: SQL агент отдаёт вам, данные читает REST через crm.js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Логи и наблюдения: агент становится умнее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9659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630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Ваш чат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05740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решает задачу и узнаёт новое о проекте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32888" y="2212848"/>
            <a:ext cx="283464" cy="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834640" y="1325880"/>
            <a:ext cx="19659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71800" y="14630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Наблюдения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971800" y="205740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в конце ответа: факт, источник, статус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18888" y="2212848"/>
            <a:ext cx="283464" cy="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120640" y="1325880"/>
            <a:ext cx="19659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57800" y="14630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knowledge-notes.md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257800" y="205740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 собирает блоки автоматически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104888" y="2212848"/>
            <a:ext cx="283464" cy="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406640" y="1325880"/>
            <a:ext cx="19659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43800" y="14630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543800" y="205740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Разработчик сверяет с логом и стендом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390888" y="2212848"/>
            <a:ext cx="283464" cy="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692640" y="1325880"/>
            <a:ext cx="1965960" cy="1783080"/>
          </a:xfrm>
          <a:prstGeom prst="roundRect">
            <a:avLst>
              <a:gd name="adj" fmla="val 4103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29800" y="14630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Знания ✅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829800" y="205740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Обновление получают все пользователи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3383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 выглядит блок в ответе агента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3749040"/>
            <a:ext cx="5486400" cy="996696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24" name="Image 0" descr="/Users/kuznecowmiha/Documents/repositories/bpmsoft-agent/docs/presentation/screens/notes_b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3785616"/>
            <a:ext cx="5413248" cy="923544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548640" y="4937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 само собирает такие блоки в knowledge-notes.md рядом с логами чатов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263640" y="338328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492240" y="35204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 каждого чата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6492240" y="3950208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Действия, ошибки, токены и стоимость — по каждому чату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macOS: ~/Library/Logs/bpmsoft-agent; Windows: папка данных приложения\logs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6263640" y="484632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492240" y="498348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знания не пишутся сами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6492240" y="5413248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Иначе знания у пользователей разойдутся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знания попадает только подтверждённое; опровергнутое помечается явно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Каждая ошибка становится правилом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315200" cy="868680"/>
          </a:xfrm>
          <a:prstGeom prst="roundRect">
            <a:avLst>
              <a:gd name="adj" fmla="val 842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в коде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137160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pkg_lint и проверки инструментов — одинаково для всех, не зависит от модели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463040" y="2423160"/>
            <a:ext cx="7315200" cy="868680"/>
          </a:xfrm>
          <a:prstGeom prst="roundRect">
            <a:avLst>
              <a:gd name="adj" fmla="val 8421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737360" y="24231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Запись в знаниях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206240" y="242316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Рецепт или факт с пометкой ✅ — подтверждено записью в CRM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377440" y="3474720"/>
            <a:ext cx="7315200" cy="868680"/>
          </a:xfrm>
          <a:prstGeom prst="roundRect">
            <a:avLst>
              <a:gd name="adj" fmla="val 8421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51760" y="34747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Правило в промпте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347472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 работы, который модель соблюдает всегда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91840" y="4526280"/>
            <a:ext cx="7315200" cy="868680"/>
          </a:xfrm>
          <a:prstGeom prst="roundRect">
            <a:avLst>
              <a:gd name="adj" fmla="val 8421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66160" y="45262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Кейс эвалов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452628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Автотест, чтобы ошибка не вернулась незаметно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052560" y="1371600"/>
            <a:ext cx="25603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81160" y="14173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4400" dirty="0"/>
          </a:p>
        </p:txBody>
      </p:sp>
      <p:sp>
        <p:nvSpPr>
          <p:cNvPr id="17" name="Text 15"/>
          <p:cNvSpPr txBox="1"/>
          <p:nvPr/>
        </p:nvSpPr>
        <p:spPr>
          <a:xfrm>
            <a:off x="9281160" y="21488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кейсов эвалов: раннер ведёт диалог как пользователь и проверяет результат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669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Сверху вниз — от самого дешёвого и надёжного уровня к самому дорогому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получить лучший результат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73736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169164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Называйте пакет и раздел — агенту не придётся гадать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309360" y="173736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086600" y="169164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Отвечайте на вопросы по требованиям: от них зависит точность плана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15468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31089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Читайте план: критерии приёмки — это то, что вы будете проверять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309360" y="315468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936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086600" y="31089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Включите БД и CRM на тестовом стенде — агент проверит работу сам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457200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572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5262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Прислали ошибку или скриншот — агент прочитает журналы и исправит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309360" y="457200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09360" y="4572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086600" y="45262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Заметили ошибку агента — расскажите разработчику: она станет правилом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 к Claude или Cursor для разработчиков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258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Агенту нужна модель — подписка Claude или Cursor. Подписка есть не у всех, поэтому компания рассматривает два варианта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60604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60604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Корпоративный Claude + токен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24612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Компания подключает корпоративный Claude и выдаёт разработчику токен — он вводится в «Настройках» приложения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237744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260604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995160" y="260604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Компенсация подписки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324612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Разработчик сам оформляет подписку Claude или Cursor, компания компенсирует её стоимость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75488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754880"/>
            <a:ext cx="10515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Чтобы выбрать вариант, собираем список желающих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Ответьте: нужен ли вам доступ · есть ли уже подписка (Claude, Cursor, нет) · какой вариант удобнее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Куда ответить: ____________   Срок: ____________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BPMSoft AI Agent</dc:title>
  <dc:subject>PptxGenJS Presentation</dc:subject>
  <dc:creator>bpmsoft-agent</dc:creator>
  <cp:lastModifiedBy>bpmsoft-agent</cp:lastModifiedBy>
  <cp:revision>1</cp:revision>
  <dcterms:created xsi:type="dcterms:W3CDTF">2026-10-22T14:27:38Z</dcterms:created>
  <dcterms:modified xsi:type="dcterms:W3CDTF">2026-10-22T14:27:38Z</dcterms:modified>
</cp:coreProperties>
</file>